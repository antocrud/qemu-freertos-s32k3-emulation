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2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60" r:id="rId16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48" autoAdjust="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10/09/2025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en-US"/>
              <a:t>Computer Architecture and Operative Systems - A.Y. 2024/25 - Group 17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10/09/2025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en-US" noProof="0"/>
              <a:t>Computer Architecture and Operative Systems - A.Y. 2024/25 - Group 17</a:t>
            </a:r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998090F-D4F6-4EAC-9104-5A086CE65793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40C245-60C8-49F8-9334-1597758FAB90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0D833D2-6456-4D57-8A7E-E092E25D5A4C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9729D0-2353-42A4-B72E-214DB8D1E004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047603-4F01-4B0D-BFBE-14D85FBD7938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2592CB-0E11-45F2-AB6D-87B769EF9810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D4EE77-08AE-4901-8E5A-18E441C777AC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2E6D77B-A52D-4AC2-8A91-7236350C40DC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D4A5F8-F279-4D2E-B6EA-4006732EDE8C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3F67AF-4B65-4F1D-AFCE-2C39ADB9CFF7}" type="datetime1">
              <a:rPr lang="it-IT" noProof="0" smtClean="0"/>
              <a:t>10/09/2025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DDC5D05-58A1-4DC6-B64D-06B51B27E6A4}" type="datetime1">
              <a:rPr lang="it-IT" noProof="0" smtClean="0"/>
              <a:t>10/09/2025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FC087D9B-EB4A-4496-900A-AD9616AB4AB5}" type="datetime1">
              <a:rPr lang="it-IT" noProof="0" smtClean="0"/>
              <a:t>10/09/2025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Politecnico di Torino - A.Y. 2024/25 - Group 17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347942@studenti.polito.it" TargetMode="External"/><Relationship Id="rId2" Type="http://schemas.openxmlformats.org/officeDocument/2006/relationships/hyperlink" Target="mailto:s343431@studenti.polito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337127@studenti.polito.it" TargetMode="External"/><Relationship Id="rId5" Type="http://schemas.openxmlformats.org/officeDocument/2006/relationships/hyperlink" Target="mailto:s346293@studenti.polito.it" TargetMode="External"/><Relationship Id="rId4" Type="http://schemas.openxmlformats.org/officeDocument/2006/relationships/hyperlink" Target="mailto:s338641@studenti.polito.i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it.rs-online.com/web/p/strumenti-di-sviluppo-per-sensori/8231892" TargetMode="External"/><Relationship Id="rId3" Type="http://schemas.openxmlformats.org/officeDocument/2006/relationships/hyperlink" Target="https://www.nxp.com/design/design-center/development-boards-and-designs/S32K3X8EVB-Q289" TargetMode="External"/><Relationship Id="rId7" Type="http://schemas.openxmlformats.org/officeDocument/2006/relationships/hyperlink" Target="https://learn.microsoft.com/it-it/dotnet/iot/tutorials/gpio-input" TargetMode="External"/><Relationship Id="rId2" Type="http://schemas.openxmlformats.org/officeDocument/2006/relationships/hyperlink" Target="https://www.nxp.com/part/S32K3X8EVB-Q28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rcuitbasics.com/basics-uart-communication/" TargetMode="External"/><Relationship Id="rId5" Type="http://schemas.openxmlformats.org/officeDocument/2006/relationships/hyperlink" Target="https://www.tuttoandroid.net/hardware/arm-cortex-m7-e-il-processore-per-droni-e-oggetti-intelligenti-219796/" TargetMode="External"/><Relationship Id="rId4" Type="http://schemas.openxmlformats.org/officeDocument/2006/relationships/hyperlink" Target="https://it.wikipedia.org/wiki/FreeRTO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en-GB" sz="3800" noProof="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Embedded Real-Time Project on S32K3X8EVB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6A548-88D6-B7EE-182D-082D52B4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86201" y="5996761"/>
            <a:ext cx="2923198" cy="365125"/>
          </a:xfrm>
        </p:spPr>
        <p:txBody>
          <a:bodyPr/>
          <a:lstStyle/>
          <a:p>
            <a:pPr rtl="0"/>
            <a:r>
              <a:rPr lang="en-GB" noProof="0" dirty="0">
                <a:solidFill>
                  <a:schemeClr val="bg1"/>
                </a:solidFill>
              </a:rPr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B42F-0E18-2844-8F73-14619A9511FB}"/>
              </a:ext>
            </a:extLst>
          </p:cNvPr>
          <p:cNvSpPr txBox="1"/>
          <p:nvPr/>
        </p:nvSpPr>
        <p:spPr>
          <a:xfrm>
            <a:off x="596474" y="5709652"/>
            <a:ext cx="467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noProof="0" dirty="0">
                <a:solidFill>
                  <a:schemeClr val="accent2"/>
                </a:solidFill>
              </a:rPr>
              <a:t>Computer Architecture and Operative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5467A-4B6E-C276-F1E5-EEC244A0D233}"/>
              </a:ext>
            </a:extLst>
          </p:cNvPr>
          <p:cNvSpPr txBox="1"/>
          <p:nvPr/>
        </p:nvSpPr>
        <p:spPr>
          <a:xfrm>
            <a:off x="596474" y="5405681"/>
            <a:ext cx="752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</a:rPr>
              <a:t>QEMU Emulation,  FreeRTOS Porting,  UART,  GPIO,  and MPU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BE60-49F5-A813-2E74-16B0926D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Group 17 – team members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8CEE7-9998-BAEF-EE6A-E12985B3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1289" y="6492875"/>
            <a:ext cx="2910711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9A855-8833-AC5D-6D56-E510649E079A}"/>
              </a:ext>
            </a:extLst>
          </p:cNvPr>
          <p:cNvSpPr txBox="1"/>
          <p:nvPr/>
        </p:nvSpPr>
        <p:spPr>
          <a:xfrm>
            <a:off x="581192" y="1989438"/>
            <a:ext cx="11029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Ble Francesco, </a:t>
            </a:r>
            <a:r>
              <a:rPr lang="en-GB" u="sng" noProof="0" dirty="0">
                <a:hlinkClick r:id="rId2"/>
              </a:rPr>
              <a:t>s343431@studenti.polito.it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Cocca Donatella, </a:t>
            </a:r>
            <a:r>
              <a:rPr lang="en-GB" u="sng" noProof="0" dirty="0">
                <a:hlinkClick r:id="rId3"/>
              </a:rPr>
              <a:t>s347942@studenti.polito.it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Crudele Antonio, </a:t>
            </a:r>
            <a:r>
              <a:rPr lang="en-GB" u="sng" noProof="0" dirty="0">
                <a:hlinkClick r:id="rId4"/>
              </a:rPr>
              <a:t>s338641@studenti.polito.it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Dokollari Megi, </a:t>
            </a:r>
            <a:r>
              <a:rPr lang="en-GB" u="sng" noProof="0" dirty="0">
                <a:hlinkClick r:id="rId5"/>
              </a:rPr>
              <a:t>s346293@studenti.polito.it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Frisenda Giovanni, </a:t>
            </a:r>
            <a:r>
              <a:rPr lang="en-GB" u="sng" noProof="0" dirty="0">
                <a:hlinkClick r:id="rId6"/>
              </a:rPr>
              <a:t>s337127@studenti.polito.it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0713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CB17-4AED-7388-0AD4-2A063D06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E0563-53C5-62EA-0EA4-1CEE6804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5380" y="6492875"/>
            <a:ext cx="2906620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1F1CC-EF79-B1BB-BA60-9ED7B23B228A}"/>
              </a:ext>
            </a:extLst>
          </p:cNvPr>
          <p:cNvSpPr txBox="1"/>
          <p:nvPr/>
        </p:nvSpPr>
        <p:spPr>
          <a:xfrm>
            <a:off x="396461" y="2068140"/>
            <a:ext cx="113434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ea typeface="Calibri" panose="020F0502020204030204" pitchFamily="34" charset="0"/>
                <a:cs typeface="Calibri" panose="020F0502020204030204" pitchFamily="34" charset="0"/>
              </a:rPr>
              <a:t>Introduction &amp;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Board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FreeRTOS Porting and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UART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GPIO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MPU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Testing &amp;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42217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D5B1-F80E-0FA0-817F-AF8C2941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80EAB-6675-740A-6C97-14F07A6B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73107" y="6492875"/>
            <a:ext cx="2918893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70FCF-9436-B58A-35EE-49DD6A18A047}"/>
              </a:ext>
            </a:extLst>
          </p:cNvPr>
          <p:cNvSpPr txBox="1"/>
          <p:nvPr/>
        </p:nvSpPr>
        <p:spPr>
          <a:xfrm>
            <a:off x="469557" y="2038864"/>
            <a:ext cx="9576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Goal</a:t>
            </a:r>
            <a:r>
              <a:rPr lang="en-GB" noProof="0" dirty="0"/>
              <a:t>: Implement and test a real-time system on the S32K3X8EVB board (via QEMU)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System environment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1" noProof="0" dirty="0"/>
              <a:t>FreeRTOS</a:t>
            </a:r>
            <a:r>
              <a:rPr lang="en-GB" noProof="0" dirty="0"/>
              <a:t> for task scheduling and real-time behaviour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1" noProof="0" dirty="0"/>
              <a:t>QEMU</a:t>
            </a:r>
            <a:r>
              <a:rPr lang="en-GB" noProof="0" dirty="0"/>
              <a:t> for board emulation and debugging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493ED-A80C-89DD-1FC6-D05ED66FA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515" y="2582563"/>
            <a:ext cx="4705928" cy="34879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DDDE74-CB7E-831E-B377-4F804E87CEB4}"/>
              </a:ext>
            </a:extLst>
          </p:cNvPr>
          <p:cNvSpPr txBox="1"/>
          <p:nvPr/>
        </p:nvSpPr>
        <p:spPr>
          <a:xfrm>
            <a:off x="7179276" y="5980670"/>
            <a:ext cx="4431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noProof="0" dirty="0"/>
              <a:t>Source: NXP official website</a:t>
            </a:r>
          </a:p>
        </p:txBody>
      </p:sp>
    </p:spTree>
    <p:extLst>
      <p:ext uri="{BB962C8B-B14F-4D97-AF65-F5344CB8AC3E}">
        <p14:creationId xmlns:p14="http://schemas.microsoft.com/office/powerpoint/2010/main" val="41765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793C-E80A-40CB-7054-62FE186BD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Project objectives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53F8C-7DD5-8C7D-B543-AF982E74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78103" y="6492875"/>
            <a:ext cx="2913897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6507A-1FF1-0169-DB94-070A5EF8D465}"/>
              </a:ext>
            </a:extLst>
          </p:cNvPr>
          <p:cNvSpPr txBox="1"/>
          <p:nvPr/>
        </p:nvSpPr>
        <p:spPr>
          <a:xfrm>
            <a:off x="581192" y="2113005"/>
            <a:ext cx="108364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Components developed and tested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1" noProof="0" dirty="0"/>
              <a:t>UART</a:t>
            </a:r>
            <a:r>
              <a:rPr lang="en-GB" noProof="0" dirty="0"/>
              <a:t> driver for serial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1" noProof="0" dirty="0"/>
              <a:t>GPIO</a:t>
            </a:r>
            <a:r>
              <a:rPr lang="en-GB" noProof="0" dirty="0"/>
              <a:t> driver with debouncing and control logic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1" noProof="0" dirty="0"/>
              <a:t>MPU</a:t>
            </a:r>
            <a:r>
              <a:rPr lang="en-GB" noProof="0" dirty="0"/>
              <a:t> configuration for memory protection and fault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Objectives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Verify correct integration of drivers and RTOS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Demonstrate MPU protection with self-tests and forced-fault scenarios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Provide a reproducible setup documented in GUIDE.md</a:t>
            </a:r>
          </a:p>
          <a:p>
            <a:pPr marL="800100" lvl="1" indent="-342900">
              <a:buAutoNum type="arabicPeriod" startAt="2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112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914B-F4AD-4D6D-970C-FA00825C0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Board 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ABE3D-1E19-EC60-7AEE-D1AF0760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03791" y="6492875"/>
            <a:ext cx="2888209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6F838-52E7-0AA7-6A0E-FAD821325993}"/>
              </a:ext>
            </a:extLst>
          </p:cNvPr>
          <p:cNvSpPr txBox="1"/>
          <p:nvPr/>
        </p:nvSpPr>
        <p:spPr>
          <a:xfrm>
            <a:off x="581192" y="2026508"/>
            <a:ext cx="9390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Target Board: </a:t>
            </a:r>
            <a:r>
              <a:rPr lang="en-GB" b="1" noProof="0" dirty="0"/>
              <a:t>S32K3X8EVB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Emulated in </a:t>
            </a:r>
            <a:r>
              <a:rPr lang="en-GB" b="1" noProof="0" dirty="0"/>
              <a:t>QEMU</a:t>
            </a:r>
            <a:r>
              <a:rPr lang="en-GB" noProof="0" dirty="0"/>
              <a:t> (custom machine type)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Provides: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0" dirty="0"/>
              <a:t>ARM Cortex-M7 CPU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0" dirty="0"/>
              <a:t>Flash, SRAM, peripheral regions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0" dirty="0"/>
              <a:t>Interfaces for GPIO and UART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Acts as the hardware foundation for FreeRTOS and drivers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C8DD40-FF27-8A32-8162-B8031BF42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485" y="3453880"/>
            <a:ext cx="5760514" cy="31031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140FE1-CDC6-0C18-E3D4-30C3037D4F2C}"/>
              </a:ext>
            </a:extLst>
          </p:cNvPr>
          <p:cNvSpPr txBox="1"/>
          <p:nvPr/>
        </p:nvSpPr>
        <p:spPr>
          <a:xfrm>
            <a:off x="6431484" y="6536937"/>
            <a:ext cx="2872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Source: NXP official website</a:t>
            </a:r>
          </a:p>
        </p:txBody>
      </p:sp>
    </p:spTree>
    <p:extLst>
      <p:ext uri="{BB962C8B-B14F-4D97-AF65-F5344CB8AC3E}">
        <p14:creationId xmlns:p14="http://schemas.microsoft.com/office/powerpoint/2010/main" val="80071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5ADC-9339-7047-FB8A-543B785B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Freertos integration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21DA7-6F75-AE55-935B-C7421421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79243" y="6492875"/>
            <a:ext cx="2912757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1EF8C-1AB6-99D5-A6CD-32A5AA8C0B86}"/>
              </a:ext>
            </a:extLst>
          </p:cNvPr>
          <p:cNvSpPr txBox="1"/>
          <p:nvPr/>
        </p:nvSpPr>
        <p:spPr>
          <a:xfrm>
            <a:off x="581193" y="2261285"/>
            <a:ext cx="11029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FreeRTOS port for </a:t>
            </a:r>
            <a:r>
              <a:rPr lang="en-GB" b="1" noProof="0" dirty="0"/>
              <a:t>ARM Cortex-M7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Features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noProof="0" dirty="0"/>
              <a:t>Task creation and scheduling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noProof="0" dirty="0"/>
              <a:t>Delays</a:t>
            </a:r>
            <a:r>
              <a:rPr lang="en-GB" noProof="0" dirty="0"/>
              <a:t> with ‘vTaskDelay()’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noProof="0" dirty="0"/>
              <a:t>Heap management</a:t>
            </a:r>
            <a:r>
              <a:rPr lang="en-GB" noProof="0" dirty="0"/>
              <a:t> with ‘heap_4.c’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Integrated into QEMU build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Provides the real-time layer for running application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4D3F82-29EE-9F5E-D770-906F03BF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25" y="4778555"/>
            <a:ext cx="3030100" cy="11520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C7BE0B-2995-F05E-4966-A12E47C7A12B}"/>
              </a:ext>
            </a:extLst>
          </p:cNvPr>
          <p:cNvSpPr txBox="1"/>
          <p:nvPr/>
        </p:nvSpPr>
        <p:spPr>
          <a:xfrm>
            <a:off x="1222781" y="6001070"/>
            <a:ext cx="1864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Source: Wikipedia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2F6865-ACAC-D10C-13E1-796784094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189" y="2158659"/>
            <a:ext cx="3961793" cy="3429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FA9FEC-4F3E-E1D2-04EF-B53C6D998AF2}"/>
              </a:ext>
            </a:extLst>
          </p:cNvPr>
          <p:cNvSpPr txBox="1"/>
          <p:nvPr/>
        </p:nvSpPr>
        <p:spPr>
          <a:xfrm>
            <a:off x="6922438" y="5540794"/>
            <a:ext cx="3479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Source: tuttoandroid.net</a:t>
            </a:r>
          </a:p>
        </p:txBody>
      </p:sp>
    </p:spTree>
    <p:extLst>
      <p:ext uri="{BB962C8B-B14F-4D97-AF65-F5344CB8AC3E}">
        <p14:creationId xmlns:p14="http://schemas.microsoft.com/office/powerpoint/2010/main" val="281677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1BD4-48D5-8EDB-A785-2CD9D5A3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noProof="0" dirty="0"/>
              <a:t>Universal asynchronous receiver/transmitter (UART) Driver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CF0CA-9EE8-570C-5709-91DF7D17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6064" y="6492875"/>
            <a:ext cx="2875936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AB40B-3C2E-B277-DAB6-18F1B9022CAD}"/>
              </a:ext>
            </a:extLst>
          </p:cNvPr>
          <p:cNvSpPr txBox="1"/>
          <p:nvPr/>
        </p:nvSpPr>
        <p:spPr>
          <a:xfrm>
            <a:off x="581192" y="2014150"/>
            <a:ext cx="11029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Purpose</a:t>
            </a:r>
            <a:r>
              <a:rPr lang="en-GB" noProof="0" dirty="0"/>
              <a:t>: Provide serial communication channel for debugging and logging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Implementation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Initialization function ‘UART_init()’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Output through ‘UART_printf()’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Usage in project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Prints debug messages for GPIO, MPU self-test and fault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863D2-DD37-BE43-69BB-7AA6B0955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187" y="3768476"/>
            <a:ext cx="6440283" cy="2571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06CB1D-8713-21F2-BF70-0339DFD151B9}"/>
              </a:ext>
            </a:extLst>
          </p:cNvPr>
          <p:cNvSpPr txBox="1"/>
          <p:nvPr/>
        </p:nvSpPr>
        <p:spPr>
          <a:xfrm>
            <a:off x="2448628" y="6340175"/>
            <a:ext cx="3647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Source: circuitbasics.com</a:t>
            </a:r>
          </a:p>
        </p:txBody>
      </p:sp>
    </p:spTree>
    <p:extLst>
      <p:ext uri="{BB962C8B-B14F-4D97-AF65-F5344CB8AC3E}">
        <p14:creationId xmlns:p14="http://schemas.microsoft.com/office/powerpoint/2010/main" val="14995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9465-9686-D9A9-69D4-A7232C54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General purpose input/output (</a:t>
            </a:r>
            <a:r>
              <a:rPr lang="en-GB" noProof="0" dirty="0" err="1"/>
              <a:t>Gpio</a:t>
            </a:r>
            <a:r>
              <a:rPr lang="en-GB" noProof="0" dirty="0"/>
              <a:t>) driver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70C27-4B7D-353E-DFBF-CF61366B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03791" y="6492875"/>
            <a:ext cx="2888209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0BA94-96B3-6453-A754-7063929D250E}"/>
              </a:ext>
            </a:extLst>
          </p:cNvPr>
          <p:cNvSpPr txBox="1"/>
          <p:nvPr/>
        </p:nvSpPr>
        <p:spPr>
          <a:xfrm>
            <a:off x="581192" y="2001794"/>
            <a:ext cx="11029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Purpose</a:t>
            </a:r>
            <a:r>
              <a:rPr lang="en-GB" noProof="0" dirty="0"/>
              <a:t>: Simulate an industrial control panel with buttons, LEDs, relays and sensors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Implementation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Debouncing algorithm for reliable button press detection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Periodic task updates GPIO state every system tick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Usage in project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Demonstrates interaction between inputs (buttons) and outputs (LEDs/relays)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C3FBD-5AA2-B918-CC25-E4101F50F752}"/>
              </a:ext>
            </a:extLst>
          </p:cNvPr>
          <p:cNvSpPr txBox="1"/>
          <p:nvPr/>
        </p:nvSpPr>
        <p:spPr>
          <a:xfrm>
            <a:off x="2962044" y="6235184"/>
            <a:ext cx="1963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Source: learn.microsoft.com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29B685-ADEE-8315-766C-555616CF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044" y="3756120"/>
            <a:ext cx="3990513" cy="2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23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9194-D004-4595-6110-E5D51DAE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Memory protection unit (mpu)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5782-A0C3-585E-2F7B-0E28802B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03790" y="6492875"/>
            <a:ext cx="2888210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25555-0B3D-316A-0F5C-E4AE24086A1F}"/>
              </a:ext>
            </a:extLst>
          </p:cNvPr>
          <p:cNvSpPr txBox="1"/>
          <p:nvPr/>
        </p:nvSpPr>
        <p:spPr>
          <a:xfrm>
            <a:off x="420130" y="1964724"/>
            <a:ext cx="11294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Purpose</a:t>
            </a:r>
            <a:r>
              <a:rPr lang="en-GB" noProof="0" dirty="0"/>
              <a:t>: Enforce memory safety and detect invalid accesses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Regions Configured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Flash (0x00400000, RO, 8 MB)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SRAM (0x20400000, RW, 1 MB)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Peripherals (0x40000000, RW, 512 MB)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Optional NO-ACCESS subregion for fault injection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Self-test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Runs automatically at startup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Prints region configuration and verifies read/write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A7F90C-AFA5-3477-C213-130257108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970" y="3146997"/>
            <a:ext cx="3758235" cy="25971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036A0A-1B63-DFA0-E17D-95BAB70DB513}"/>
              </a:ext>
            </a:extLst>
          </p:cNvPr>
          <p:cNvSpPr txBox="1"/>
          <p:nvPr/>
        </p:nvSpPr>
        <p:spPr>
          <a:xfrm>
            <a:off x="7955970" y="5744151"/>
            <a:ext cx="3528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Source: it.rs-online.com</a:t>
            </a:r>
          </a:p>
        </p:txBody>
      </p:sp>
    </p:spTree>
    <p:extLst>
      <p:ext uri="{BB962C8B-B14F-4D97-AF65-F5344CB8AC3E}">
        <p14:creationId xmlns:p14="http://schemas.microsoft.com/office/powerpoint/2010/main" val="2541774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3E91-B507-84F5-902B-3415994A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MPU fault tests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322FD-DA39-2597-70BA-BFDAE0F9F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7654" y="6492875"/>
            <a:ext cx="2894346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E9480-62BD-978B-C02F-64406FFF0725}"/>
              </a:ext>
            </a:extLst>
          </p:cNvPr>
          <p:cNvSpPr txBox="1"/>
          <p:nvPr/>
        </p:nvSpPr>
        <p:spPr>
          <a:xfrm>
            <a:off x="494270" y="2100649"/>
            <a:ext cx="111165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MPU_fault_test()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Attempts to write to Flash (RO region)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Expected: MemManage fault 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MPU_forced_fault()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Attempts to write to NO-ACCESS SRAM subregion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Correctly triggers a MemManage fault in QEMU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Fault handling</a:t>
            </a:r>
            <a:r>
              <a:rPr lang="en-GB" noProof="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Captured by ‘MemManage_Handler’ or ‘HardFault_Handler’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Diagnostic message printed via UART</a:t>
            </a:r>
          </a:p>
        </p:txBody>
      </p:sp>
    </p:spTree>
    <p:extLst>
      <p:ext uri="{BB962C8B-B14F-4D97-AF65-F5344CB8AC3E}">
        <p14:creationId xmlns:p14="http://schemas.microsoft.com/office/powerpoint/2010/main" val="1096437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2EB28-5935-BB8F-6C53-DB5CC947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Testing &amp;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5F330-5095-7EDC-DD09-1F42B408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1517" y="6492875"/>
            <a:ext cx="2900483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82FAA-E597-691D-B209-6DE9F188BECE}"/>
              </a:ext>
            </a:extLst>
          </p:cNvPr>
          <p:cNvSpPr txBox="1"/>
          <p:nvPr/>
        </p:nvSpPr>
        <p:spPr>
          <a:xfrm>
            <a:off x="581192" y="2150076"/>
            <a:ext cx="11120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UART</a:t>
            </a:r>
            <a:r>
              <a:rPr lang="en-GB" noProof="0" dirty="0"/>
              <a:t>: Correctly outputs messages and diagnostics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GPIO</a:t>
            </a:r>
            <a:r>
              <a:rPr lang="en-GB" noProof="0" dirty="0"/>
              <a:t>: Debouncing and control logic verified in emulation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MPU</a:t>
            </a:r>
            <a:r>
              <a:rPr lang="en-GB" noProof="0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Self-test confirms correct region configuration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noProof="0" dirty="0"/>
              <a:t>Forced fault test proves MPU protection works in QEMU</a:t>
            </a:r>
          </a:p>
        </p:txBody>
      </p:sp>
    </p:spTree>
    <p:extLst>
      <p:ext uri="{BB962C8B-B14F-4D97-AF65-F5344CB8AC3E}">
        <p14:creationId xmlns:p14="http://schemas.microsoft.com/office/powerpoint/2010/main" val="1313960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404A-9AB0-C606-57BE-533C642B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A360DD-F9B5-A5C9-B377-56389FAE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3562" y="6492875"/>
            <a:ext cx="2898438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D079A-3615-52C0-1E2C-F2D64DF4D832}"/>
              </a:ext>
            </a:extLst>
          </p:cNvPr>
          <p:cNvSpPr txBox="1"/>
          <p:nvPr/>
        </p:nvSpPr>
        <p:spPr>
          <a:xfrm>
            <a:off x="581192" y="1977081"/>
            <a:ext cx="11029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Board + FreeRTOS </a:t>
            </a:r>
            <a:r>
              <a:rPr lang="en-GB" noProof="0" dirty="0"/>
              <a:t>successfully integrated in QEMU 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UART</a:t>
            </a:r>
            <a:r>
              <a:rPr lang="en-GB" noProof="0" dirty="0"/>
              <a:t> provides communication and debugging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GPIO</a:t>
            </a:r>
            <a:r>
              <a:rPr lang="en-GB" noProof="0" dirty="0"/>
              <a:t> with debouncing demonstrates task scheduling and I/O reliability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noProof="0" dirty="0"/>
              <a:t>MPU</a:t>
            </a:r>
            <a:r>
              <a:rPr lang="en-GB" noProof="0" dirty="0"/>
              <a:t> enforces memory protection, with self-test and forced fault validation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noProof="0" dirty="0"/>
              <a:t>Project shows a </a:t>
            </a:r>
            <a:r>
              <a:rPr lang="en-GB" b="1" noProof="0" dirty="0"/>
              <a:t>complete embedded system </a:t>
            </a:r>
            <a:r>
              <a:rPr lang="en-GB" noProof="0" dirty="0"/>
              <a:t>with real-time OS, drivers and safety features</a:t>
            </a:r>
          </a:p>
        </p:txBody>
      </p:sp>
    </p:spTree>
    <p:extLst>
      <p:ext uri="{BB962C8B-B14F-4D97-AF65-F5344CB8AC3E}">
        <p14:creationId xmlns:p14="http://schemas.microsoft.com/office/powerpoint/2010/main" val="139545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4042-F42B-5514-796A-B379755C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REFERENCIES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118F7-99D2-2914-41F6-60F0E5C6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75152" y="6492875"/>
            <a:ext cx="2916848" cy="365125"/>
          </a:xfrm>
        </p:spPr>
        <p:txBody>
          <a:bodyPr/>
          <a:lstStyle/>
          <a:p>
            <a:pPr rtl="0"/>
            <a:r>
              <a:rPr lang="en-GB" noProof="0" dirty="0"/>
              <a:t>Politecnico di Torino - A.Y. 2024/25 - Group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F2686-46D4-DCD2-EBC6-3E41566FBDA5}"/>
              </a:ext>
            </a:extLst>
          </p:cNvPr>
          <p:cNvSpPr txBox="1"/>
          <p:nvPr/>
        </p:nvSpPr>
        <p:spPr>
          <a:xfrm>
            <a:off x="593466" y="2106786"/>
            <a:ext cx="110296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Images: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2"/>
              </a:rPr>
              <a:t>https://www.nxp.com/part/S32K3X8EVB-Q289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3"/>
              </a:rPr>
              <a:t>https://www.nxp.com/design/design-center/development-boards-and-designs/S32K3X8EVB-Q289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4"/>
              </a:rPr>
              <a:t>https://it.wikipedia.org/wiki/FreeRTOS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5"/>
              </a:rPr>
              <a:t>https://www.tuttoandroid.net/hardware/arm-cortex-m7-e-il-processore-per-droni-e-oggetti-intelligenti-219796/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6"/>
              </a:rPr>
              <a:t>https://www.circuitbasics.com/basics-uart-communication/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7"/>
              </a:rPr>
              <a:t>https://learn.microsoft.com/it-it/dotnet/iot/tutorials/gpio-input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hlinkClick r:id="rId8"/>
              </a:rPr>
              <a:t>https://it.rs-online.com/web/p/strumenti-di-sviluppo-per-sensori/8231892</a:t>
            </a: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36856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3019" y="2683851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n-GB" noProof="0" dirty="0">
                <a:solidFill>
                  <a:srgbClr val="FFFFFF"/>
                </a:solidFill>
              </a:rPr>
              <a:t>Thank you for your attention!</a:t>
            </a: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A65C8-2188-EE79-8212-1FD3FAF1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59302" y="6025440"/>
            <a:ext cx="2886164" cy="365125"/>
          </a:xfrm>
        </p:spPr>
        <p:txBody>
          <a:bodyPr/>
          <a:lstStyle/>
          <a:p>
            <a:pPr rtl="0"/>
            <a:r>
              <a:rPr lang="en-GB" noProof="0" dirty="0">
                <a:solidFill>
                  <a:schemeClr val="bg1"/>
                </a:solidFill>
              </a:rPr>
              <a:t>Politecnico di Torino - A.Y. 2024/25 - Group 17</a:t>
            </a: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{DDD3AA51-493F-4A52-B198-426BD025F3BD}TF9cd6fad6-da1d-416b-8dc8-a086cd1045b1af63d5e5_win32-e4eb83cc1259</Template>
  <TotalTime>181</TotalTime>
  <Words>906</Words>
  <Application>Microsoft Office PowerPoint</Application>
  <PresentationFormat>Widescreen</PresentationFormat>
  <Paragraphs>130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Gill Sans MT</vt:lpstr>
      <vt:lpstr>Wingdings 2</vt:lpstr>
      <vt:lpstr>Personalizzata</vt:lpstr>
      <vt:lpstr>Embedded Real-Time Project on S32K3X8EVB</vt:lpstr>
      <vt:lpstr>Group 17 – team members</vt:lpstr>
      <vt:lpstr>index</vt:lpstr>
      <vt:lpstr>introduction</vt:lpstr>
      <vt:lpstr>Project objectives</vt:lpstr>
      <vt:lpstr>Board implementation</vt:lpstr>
      <vt:lpstr>Freertos integration</vt:lpstr>
      <vt:lpstr>Universal asynchronous receiver/transmitter (UART) Driver</vt:lpstr>
      <vt:lpstr>General purpose input/output (Gpio) driver</vt:lpstr>
      <vt:lpstr>Memory protection unit (mpu)</vt:lpstr>
      <vt:lpstr>MPU fault tests</vt:lpstr>
      <vt:lpstr>Testing &amp; results</vt:lpstr>
      <vt:lpstr>CONCLUSIONS</vt:lpstr>
      <vt:lpstr>REFERENCIES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Blè</dc:creator>
  <cp:lastModifiedBy>Francesco Blè</cp:lastModifiedBy>
  <cp:revision>14</cp:revision>
  <dcterms:created xsi:type="dcterms:W3CDTF">2025-09-09T06:53:49Z</dcterms:created>
  <dcterms:modified xsi:type="dcterms:W3CDTF">2025-09-10T05:47:44Z</dcterms:modified>
</cp:coreProperties>
</file>